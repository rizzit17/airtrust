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fe907b5e664b3e" /><Relationship Type="http://schemas.openxmlformats.org/officeDocument/2006/relationships/extended-properties" Target="/docProps/app.xml" Id="Rfbb3930b592b4b07" /><Relationship Type="http://schemas.openxmlformats.org/officeDocument/2006/relationships/officeDocument" Target="/ppt/presentation.xml" Id="Rad8f6d6935b3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46d84d0684fb2"/>
  </p:sldMasterIdLst>
  <p:notesMasterIdLst>
    <p:notesMasterId xmlns:r="http://schemas.openxmlformats.org/officeDocument/2006/relationships" r:id="Ra63fcea37d1d4a76"/>
  </p:notesMasterIdLst>
  <p:sldIdLst>
    <p:sldId xmlns:r="http://schemas.openxmlformats.org/officeDocument/2006/relationships" id="256" r:id="Raaa99f486a914512"/>
    <p:sldId xmlns:r="http://schemas.openxmlformats.org/officeDocument/2006/relationships" id="257" r:id="R0254c87e542446b5"/>
    <p:sldId xmlns:r="http://schemas.openxmlformats.org/officeDocument/2006/relationships" id="258" r:id="R6062cf20e7c740e6"/>
    <p:sldId xmlns:r="http://schemas.openxmlformats.org/officeDocument/2006/relationships" id="259" r:id="R2f6e5e7b04af4282"/>
    <p:sldId xmlns:r="http://schemas.openxmlformats.org/officeDocument/2006/relationships" id="260" r:id="Rc0b189daca104b91"/>
    <p:sldId xmlns:r="http://schemas.openxmlformats.org/officeDocument/2006/relationships" id="261" r:id="Rbf79a9c3a95c440e"/>
    <p:sldId xmlns:r="http://schemas.openxmlformats.org/officeDocument/2006/relationships" id="262" r:id="R2123a59bc6b94dec"/>
    <p:sldId xmlns:r="http://schemas.openxmlformats.org/officeDocument/2006/relationships" id="263" r:id="R70b721d3fa354f73"/>
    <p:sldId xmlns:r="http://schemas.openxmlformats.org/officeDocument/2006/relationships" id="264" r:id="R45247d153c6f4ae2"/>
    <p:sldId xmlns:r="http://schemas.openxmlformats.org/officeDocument/2006/relationships" id="265" r:id="R4ae67ddc40de433d"/>
    <p:sldId xmlns:r="http://schemas.openxmlformats.org/officeDocument/2006/relationships" id="266" r:id="Rfc41bb205600432b"/>
    <p:sldId xmlns:r="http://schemas.openxmlformats.org/officeDocument/2006/relationships" id="267" r:id="R09c4219f113c4317"/>
    <p:sldId xmlns:r="http://schemas.openxmlformats.org/officeDocument/2006/relationships" id="268" r:id="Rdbf8c26a152a49d2"/>
    <p:sldId xmlns:r="http://schemas.openxmlformats.org/officeDocument/2006/relationships" id="269" r:id="R451261d63ca84d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52aad5a4024684" /><Relationship Type="http://schemas.openxmlformats.org/officeDocument/2006/relationships/slideMaster" Target="/ppt/slideMasters/slideMaster1.xml" Id="R87846d84d0684fb2" /><Relationship Type="http://schemas.openxmlformats.org/officeDocument/2006/relationships/notesMaster" Target="/ppt/notesMasters/notesMaster1.xml" Id="Ra63fcea37d1d4a76" /><Relationship Type="http://schemas.openxmlformats.org/officeDocument/2006/relationships/presProps" Target="/ppt/presProps.xml" Id="R0f9dd3b63c21416f" /><Relationship Type="http://schemas.openxmlformats.org/officeDocument/2006/relationships/tableStyles" Target="/ppt/tableStyles.xml" Id="R95e5de272c3c45b1" /><Relationship Type="http://schemas.openxmlformats.org/officeDocument/2006/relationships/slide" Target="/ppt/slides/slide1.xml" Id="Raaa99f486a914512" /><Relationship Type="http://schemas.openxmlformats.org/officeDocument/2006/relationships/slide" Target="/ppt/slides/slide2.xml" Id="R0254c87e542446b5" /><Relationship Type="http://schemas.openxmlformats.org/officeDocument/2006/relationships/slide" Target="/ppt/slides/slide3.xml" Id="R6062cf20e7c740e6" /><Relationship Type="http://schemas.openxmlformats.org/officeDocument/2006/relationships/slide" Target="/ppt/slides/slide4.xml" Id="R2f6e5e7b04af4282" /><Relationship Type="http://schemas.openxmlformats.org/officeDocument/2006/relationships/slide" Target="/ppt/slides/slide5.xml" Id="Rc0b189daca104b91" /><Relationship Type="http://schemas.openxmlformats.org/officeDocument/2006/relationships/slide" Target="/ppt/slides/slide6.xml" Id="Rbf79a9c3a95c440e" /><Relationship Type="http://schemas.openxmlformats.org/officeDocument/2006/relationships/slide" Target="/ppt/slides/slide7.xml" Id="R2123a59bc6b94dec" /><Relationship Type="http://schemas.openxmlformats.org/officeDocument/2006/relationships/slide" Target="/ppt/slides/slide8.xml" Id="R70b721d3fa354f73" /><Relationship Type="http://schemas.openxmlformats.org/officeDocument/2006/relationships/slide" Target="/ppt/slides/slide9.xml" Id="R45247d153c6f4ae2" /><Relationship Type="http://schemas.openxmlformats.org/officeDocument/2006/relationships/slide" Target="/ppt/slides/slide10.xml" Id="R4ae67ddc40de433d" /><Relationship Type="http://schemas.openxmlformats.org/officeDocument/2006/relationships/slide" Target="/ppt/slides/slide11.xml" Id="Rfc41bb205600432b" /><Relationship Type="http://schemas.openxmlformats.org/officeDocument/2006/relationships/slide" Target="/ppt/slides/slide12.xml" Id="R09c4219f113c4317" /><Relationship Type="http://schemas.openxmlformats.org/officeDocument/2006/relationships/slide" Target="/ppt/slides/slide13.xml" Id="Rdbf8c26a152a49d2" /><Relationship Type="http://schemas.openxmlformats.org/officeDocument/2006/relationships/slide" Target="/ppt/slides/slide14.xml" Id="R451261d63ca8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e4543399140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4b60a6e6204047" /><Relationship Type="http://schemas.openxmlformats.org/officeDocument/2006/relationships/notesMaster" Target="/ppt/notesMasters/notesMaster1.xml" Id="Rf9f607df88e549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e2fa21cbd14e4c" /><Relationship Type="http://schemas.openxmlformats.org/officeDocument/2006/relationships/notesMaster" Target="/ppt/notesMasters/notesMaster1.xml" Id="Rc8a33e30c11340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dc7be13b4d4465" /><Relationship Type="http://schemas.openxmlformats.org/officeDocument/2006/relationships/notesMaster" Target="/ppt/notesMasters/notesMaster1.xml" Id="R44259d4a6e5f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1bc62670b94255" /><Relationship Type="http://schemas.openxmlformats.org/officeDocument/2006/relationships/notesMaster" Target="/ppt/notesMasters/notesMaster1.xml" Id="R054a6ed71f6042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c769967d74432e" /><Relationship Type="http://schemas.openxmlformats.org/officeDocument/2006/relationships/notesMaster" Target="/ppt/notesMasters/notesMaster1.xml" Id="R466b0140fd9a42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0ec4ecc51e4b5e" /><Relationship Type="http://schemas.openxmlformats.org/officeDocument/2006/relationships/notesMaster" Target="/ppt/notesMasters/notesMaster1.xml" Id="Radbca4cdfb494c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24a2ea16964022" /><Relationship Type="http://schemas.openxmlformats.org/officeDocument/2006/relationships/notesMaster" Target="/ppt/notesMasters/notesMaster1.xml" Id="R3f6e5ed7f6b748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d998f5e0c14b53" /><Relationship Type="http://schemas.openxmlformats.org/officeDocument/2006/relationships/notesMaster" Target="/ppt/notesMasters/notesMaster1.xml" Id="Re9a56810d15d43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1203e6a08148b8" /><Relationship Type="http://schemas.openxmlformats.org/officeDocument/2006/relationships/notesMaster" Target="/ppt/notesMasters/notesMaster1.xml" Id="Rfd7d0703d8cf49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eed39c0c054e82" /><Relationship Type="http://schemas.openxmlformats.org/officeDocument/2006/relationships/notesMaster" Target="/ppt/notesMasters/notesMaster1.xml" Id="R454945f5988a43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3bbc041a014c72" /><Relationship Type="http://schemas.openxmlformats.org/officeDocument/2006/relationships/notesMaster" Target="/ppt/notesMasters/notesMaster1.xml" Id="R3e530e9fd0b244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2d010116104886" /><Relationship Type="http://schemas.openxmlformats.org/officeDocument/2006/relationships/notesMaster" Target="/ppt/notesMasters/notesMaster1.xml" Id="R3340bb501ee343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40ee81b281471f" /><Relationship Type="http://schemas.openxmlformats.org/officeDocument/2006/relationships/notesMaster" Target="/ppt/notesMasters/notesMaster1.xml" Id="R6e4fa6c737484e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8eec38cfaf41e7" /><Relationship Type="http://schemas.openxmlformats.org/officeDocument/2006/relationships/notesMaster" Target="/ppt/notesMasters/notesMaster1.xml" Id="Rf2237e8eaeb3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registrations and corresponding author are in README and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Assignment workbook: Titles Assigned, Team 10 / Project 9. Health/climate outcomes are not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https://github.com/xKDR/Air-Quality-Database ; https://doi.org/10.24432/C5RK5G . Counts exclude duplicates and synthetic derivatives.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airtrust/models.py; data.py; experiment.py. Confidence=max(exp(-calibration RMSE/35),0.05). Single-process simulation, not isolated devices.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results/spatial_cv audits and metrics; primary fixed-holdout results remain separately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results/spatial_cv/summary.csv. RMSE means across five folds × seeds17,29,43; SDs in report. Fold sizes differ and are equally weighted.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results/calibration/comparison.csv and summary.csv. Separate fixed station holdout, three seeds; not station CV. Correction fit uses first10% seen-station pairs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Zheng et al.2018 https://doi.org/10.5194/amt-11-4823-2018 . No Delhi hardware fit. Krum theoretical conditions do not cover the main3/8 corrupted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results/privacy.csv and communication.csv. No secure aggregation or differential privacy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 docs/DEMO_GUIDE.md. Sliders produce diagnostics, not a newly trained federated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DOIs:10.3390/app14051979;10.3390/s21134586;10.48084/etasr.7820;10.3390/a15110434. Full comparison of25 works in docs/LITERATURE_REVIEW.md.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DOIs:10.1145/3625558;10.1145/3629978;10.3390/s25123728;10.3390/electronics14091790. Classification/building results are indirect evidence for pollution mapping.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DOIs:10.5194/amt-11-4823-2018;10.1007/s40747-021-00476-w;10.1007/s11704-023-3282-7;10.1145/3659205. Literature gaps motivate unseen-station tests and explicit privacy/payload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Publication status: not submitted. Live team presentation remains to be delivered. AI assisted code/documentation; figures and measurements come from executed experiments. GitHub:https://github.com/rizzit17/airtrust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862722bc34e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44381371441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ca0802748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b623520cb45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77929b21640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a024bb104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EEC3FC-7F1B-42EA-A8FA-D46941BCD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7446E6-C341-4F12-8B1A-BA204A7B51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4A72E4-F5E7-4FC9-A72D-C9C4673A08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08E63D-117C-4CE1-AD5C-CB0C3F085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A6A25A-7674-4B89-8350-BB299E8B03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8A08A0-790F-4A0F-A66E-7F4DB06D9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D14DC-DDD3-45F4-AA5F-451922A9E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A0EAAFB-6CE3-453A-B355-7F93F809B0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0ADA0D-B53F-4BDD-B673-3538B0F105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5C23DB-1ED0-4975-9AFC-ECD3D16618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685a0013143db" /><Relationship Type="http://schemas.openxmlformats.org/officeDocument/2006/relationships/slideLayout" Target="/ppt/slideLayouts/slideLayout1.xml" Id="R16fdda1bf6c2460d" /><Relationship Type="http://schemas.openxmlformats.org/officeDocument/2006/relationships/slideLayout" Target="/ppt/slideLayouts/slideLayout2.xml" Id="R32e49bfee8d44ec4" /><Relationship Type="http://schemas.openxmlformats.org/officeDocument/2006/relationships/slideLayout" Target="/ppt/slideLayouts/slideLayout3.xml" Id="Rb284df97b3ee4eb7" /><Relationship Type="http://schemas.openxmlformats.org/officeDocument/2006/relationships/slideLayout" Target="/ppt/slideLayouts/slideLayout4.xml" Id="Rb7b96e4250b24371" /><Relationship Type="http://schemas.openxmlformats.org/officeDocument/2006/relationships/slideLayout" Target="/ppt/slideLayouts/slideLayout5.xml" Id="R4697e566d436423a" /><Relationship Type="http://schemas.openxmlformats.org/officeDocument/2006/relationships/slideLayout" Target="/ppt/slideLayouts/slideLayout6.xml" Id="R2cdc473c036341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fdda1bf6c2460d"/>
    <p:sldLayoutId xmlns:r="http://schemas.openxmlformats.org/officeDocument/2006/relationships" id="2147483650" r:id="R32e49bfee8d44ec4"/>
    <p:sldLayoutId xmlns:r="http://schemas.openxmlformats.org/officeDocument/2006/relationships" id="2147483651" r:id="Rb284df97b3ee4eb7"/>
    <p:sldLayoutId xmlns:r="http://schemas.openxmlformats.org/officeDocument/2006/relationships" id="2147483652" r:id="Rb7b96e4250b24371"/>
    <p:sldLayoutId xmlns:r="http://schemas.openxmlformats.org/officeDocument/2006/relationships" id="2147483653" r:id="R4697e566d436423a"/>
    <p:sldLayoutId xmlns:r="http://schemas.openxmlformats.org/officeDocument/2006/relationships" id="2147483654" r:id="R2cdc473c036341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5e56903ea24bf6" /><Relationship Type="http://schemas.openxmlformats.org/officeDocument/2006/relationships/notesSlide" Target="/ppt/notesSlides/notesSlide1.xml" Id="Rfe3a94e7ab044e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603a260a714a18" /><Relationship Type="http://schemas.openxmlformats.org/officeDocument/2006/relationships/notesSlide" Target="/ppt/notesSlides/notesSlide2.xml" Id="Rb5c0e391c8584c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5e2660a696419c" /><Relationship Type="http://schemas.openxmlformats.org/officeDocument/2006/relationships/notesSlide" Target="/ppt/notesSlides/notesSlide3.xml" Id="R45d8ac8feea749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fb02f40224038" /><Relationship Type="http://schemas.openxmlformats.org/officeDocument/2006/relationships/notesSlide" Target="/ppt/notesSlides/notesSlide4.xml" Id="R3afd72f02a9041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818bcd7a84906" /><Relationship Type="http://schemas.openxmlformats.org/officeDocument/2006/relationships/notesSlide" Target="/ppt/notesSlides/notesSlide5.xml" Id="Rb13c44fe3dca4b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e8259062d4323" /><Relationship Type="http://schemas.openxmlformats.org/officeDocument/2006/relationships/chart" Target="/ppt/slides/charts/chart1.xml" Id="Rf008977b035043af" /><Relationship Type="http://schemas.openxmlformats.org/officeDocument/2006/relationships/notesSlide" Target="/ppt/notesSlides/notesSlide6.xml" Id="R7d140c9e15e048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eb8165f54444b" /><Relationship Type="http://schemas.openxmlformats.org/officeDocument/2006/relationships/chart" Target="/ppt/slides/charts/chart2.xml" Id="Re59629c1ef7a4eea" /><Relationship Type="http://schemas.openxmlformats.org/officeDocument/2006/relationships/notesSlide" Target="/ppt/notesSlides/notesSlide7.xml" Id="R37052e3ce72546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3e6e42a6f4cad" /><Relationship Type="http://schemas.openxmlformats.org/officeDocument/2006/relationships/notesSlide" Target="/ppt/notesSlides/notesSlide8.xml" Id="R99efcf9834a645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98862bbe34039" /><Relationship Type="http://schemas.openxmlformats.org/officeDocument/2006/relationships/notesSlide" Target="/ppt/notesSlides/notesSlide9.xml" Id="Rd6ebcb57e72640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c3d2d53234ce2" /><Relationship Type="http://schemas.openxmlformats.org/officeDocument/2006/relationships/notesSlide" Target="/ppt/notesSlides/notesSlide10.xml" Id="R4b8cb3e57f994f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b2740097f48cb" /><Relationship Type="http://schemas.openxmlformats.org/officeDocument/2006/relationships/notesSlide" Target="/ppt/notesSlides/notesSlide11.xml" Id="Rb064e94161db4d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56b61b71d42e9" /><Relationship Type="http://schemas.openxmlformats.org/officeDocument/2006/relationships/notesSlide" Target="/ppt/notesSlides/notesSlide12.xml" Id="R6e57a0dd8c344a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870b8b47f4a3d" /><Relationship Type="http://schemas.openxmlformats.org/officeDocument/2006/relationships/notesSlide" Target="/ppt/notesSlides/notesSlide13.xml" Id="R33ad6a79ba0248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d354155f94023" /><Relationship Type="http://schemas.openxmlformats.org/officeDocument/2006/relationships/notesSlide" Target="/ppt/notesSlides/notesSlide14.xml" Id="R126fa8bc568340f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RMSE (µg/m³)</c:v>
          </c:tx>
          <c:spPr>
            <a:solidFill xmlns:a="http://schemas.openxmlformats.org/drawingml/2006/main">
              <a:srgbClr val="34795D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FedAvg</c:v>
                </c:pt>
                <c:pt idx="1">
                  <c:v>Trust FL</c:v>
                </c:pt>
                <c:pt idx="2">
                  <c:v>Centralized</c:v>
                </c:pt>
                <c:pt idx="3">
                  <c:v>Kriging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96.16</c:v>
                </c:pt>
                <c:pt idx="1">
                  <c:v>96.69</c:v>
                </c:pt>
                <c:pt idx="2">
                  <c:v>99.25</c:v>
                </c:pt>
                <c:pt idx="3">
                  <c:v>109.8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RMSE (µg/m³)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Before correction</c:v>
          </c:tx>
          <c:spPr>
            <a:solidFill xmlns:a="http://schemas.openxmlformats.org/drawingml/2006/main">
              <a:srgbClr val="BD895D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FedAvg</c:v>
                </c:pt>
                <c:pt idx="1">
                  <c:v>Trust FL</c:v>
                </c:pt>
                <c:pt idx="2">
                  <c:v>Centralized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98.11</c:v>
                </c:pt>
                <c:pt idx="1">
                  <c:v>99.92</c:v>
                </c:pt>
                <c:pt idx="2">
                  <c:v>108.95</c:v>
                </c:pt>
              </c:numCache>
            </c:numRef>
          </c:val>
        </c:ser>
        <c:ser>
          <c:idx val="1"/>
          <c:order val="1"/>
          <c:tx>
            <c:v>Early linear correction</c:v>
          </c:tx>
          <c:spPr>
            <a:solidFill xmlns:a="http://schemas.openxmlformats.org/drawingml/2006/main">
              <a:srgbClr val="34795D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FedAvg</c:v>
                </c:pt>
                <c:pt idx="1">
                  <c:v>Trust FL</c:v>
                </c:pt>
                <c:pt idx="2">
                  <c:v>Centralized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78.49</c:v>
                </c:pt>
                <c:pt idx="1">
                  <c:v>78.67</c:v>
                </c:pt>
                <c:pt idx="2">
                  <c:v>100.49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Unseen-station RMSE (µg/m³)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67991-F49B-46F7-8B21-38B471D3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AirTrust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1B744-843F-411B-803C-AF4D3A27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Federated pollution mapping in Delhi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5E420-CEAB-43A8-A03F-2923CD3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Team 10 · Project 9 · BCSE316L · AY 2026–27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00E93-767D-406B-AFFF-FC13CA7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Real reference observations and a reproducible sensor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D04B7-CF71-404D-BCBD-2F12FEE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Rishit · Siddharth · Jashan · Adarsh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469E4-AF5E-4F28-BEF5-F38F4C6A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1</a:t>
            </a:r>
          </a:p>
        </p:txBody>
      </p:sp>
    </p:spTree>
    <p:extLst>
      <p:ext uri="{BB962C8B-B14F-4D97-AF65-F5344CB8AC3E}">
        <p14:creationId xmlns:p14="http://schemas.microsoft.com/office/powerpoint/2010/main" val="1807112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BCB17-DEF4-4DDB-836B-3DAD170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Problem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89A33-BC6B-4D00-A727-3BD383BE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Predict pollution across geographic clients without supplying raw records to the aggregation function.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B01CB-DC74-4394-997B-CC518BA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Delhi strengths: distributed public monitors. Challenges: missing readings, uneven coverage and sensor bias.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27540-4DED-4C54-856F-F9EB8B1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Test future-time forecasting and completely unseen locations.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B57CD-DE30-4398-BAE7-701894E8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SDG relevance: exposure monitoring (3), urban air quality (11.6), environmental observation (13).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A7A65-6424-4AF1-9A80-438E03B4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2</a:t>
            </a:r>
          </a:p>
        </p:txBody>
      </p:sp>
    </p:spTree>
    <p:extLst>
      <p:ext uri="{BB962C8B-B14F-4D97-AF65-F5344CB8AC3E}">
        <p14:creationId xmlns:p14="http://schemas.microsoft.com/office/powerpoint/2010/main" val="1897435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2E59A-DCC9-4F37-A03A-94043DC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Public datasets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C97CD-9C76-4C56-91E8-FA798600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Delhi 2024: 317,627 PM2.5 + 323,061 PM10 + 325,379 NO₂ observations.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54957-F18D-48C7-91B1-B089ED1A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PM2.5 learning: 300,355 valid labels at 36 distinct locations, grouped into eight clients.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ECD61-2DF3-4BE9-BBB2-5BBE2DD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Beijing: 420,768 station-hour rows at 12 reference stations; independent persistence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C4BE-DF6A-442B-AD8F-7E17B81F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CC BY 4.0 sources and checksums are bundled. PM10/NO₂ support contextual exploration.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CB858-2F23-4CA1-B192-303B0CF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3</a:t>
            </a:r>
          </a:p>
        </p:txBody>
      </p:sp>
    </p:spTree>
    <p:extLst>
      <p:ext uri="{BB962C8B-B14F-4D97-AF65-F5344CB8AC3E}">
        <p14:creationId xmlns:p14="http://schemas.microsoft.com/office/powerpoint/2010/main" val="1527304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EBE7E-9099-414E-8382-842F778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Local training and aggregation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45B78-1A0D-4736-B5AE-EF66E7FB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Spatial graph learner: six donor hours plus relative coordinates predict the next target hour.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84FC4-6DE9-4CF8-9304-7B2B2414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Temporal LSTM: a known station’s own history; evaluated as a separate forecasting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F504D-15B5-42A0-BE74-5B8CA66C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Each round trains client models locally, aggregates parameters, and returns a shared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E9B5D-375A-4F7A-B40A-FC28CE9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Trust weight ∝ local sample count × early co-location confidence.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659FF-D718-4659-A079-F0E78C70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4</a:t>
            </a:r>
          </a:p>
        </p:txBody>
      </p:sp>
    </p:spTree>
    <p:extLst>
      <p:ext uri="{BB962C8B-B14F-4D97-AF65-F5344CB8AC3E}">
        <p14:creationId xmlns:p14="http://schemas.microsoft.com/office/powerpoint/2010/main" val="1279177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35FE6-91AB-461E-A88B-BFFA387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Experimental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D7D38-9DB3-44B4-8212-8A522AFD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First 10% calibration; next 60% training; 15% validation; final 15%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DD7F3-5AF3-4390-AD88-97CF2DEE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Five station folds × three seeds: every location held out once per seed from training, calibration and donors.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4E128-B48F-4637-A958-AB3B22E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20 rounds, 12 local steps, Adam 0.002, batch up to 128; validation chooses the checkpoint.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40B10-33A7-492A-B659-8F62DDCF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MAE, RMSE, R², runtime, parameter bytes and a named membership probe.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9C534-E73F-4CF7-BD31-76F3F6D7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5</a:t>
            </a:r>
          </a:p>
        </p:txBody>
      </p:sp>
    </p:spTree>
    <p:extLst>
      <p:ext uri="{BB962C8B-B14F-4D97-AF65-F5344CB8AC3E}">
        <p14:creationId xmlns:p14="http://schemas.microsoft.com/office/powerpoint/2010/main" val="449117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BC3BF-5BFD-4A59-A176-E50FC3BD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Unseen-station cross-validation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F8646-1814-4466-8264-0A8D81F6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F546B7A-4691-4D42-A03C-932AABA2ADA6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08977b035043a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361D7-825B-4FC7-8E2F-74E5844E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Trust weighting does not establish a clear gain over FedAvg.</a:t>
            </a:r>
          </a:p>
        </p:txBody>
      </p:sp>
    </p:spTree>
    <p:extLst>
      <p:ext uri="{BB962C8B-B14F-4D97-AF65-F5344CB8AC3E}">
        <p14:creationId xmlns:p14="http://schemas.microsoft.com/office/powerpoint/2010/main" val="1026879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6326D-CC4C-4503-8F87-02D5F5E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Input correction improves this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2914E-1FE0-4118-8606-38731CBD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32EFD77-760B-4199-BE0F-7B4D5774C757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5727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9629c1ef7a4ee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0E830-CE22-437B-BAAB-CA795529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Corrected trust RMSE: 78.67 ± 2.02 µg/m³; corrected FedAvg: 78.49 ± 2.05.</a:t>
            </a:r>
          </a:p>
        </p:txBody>
      </p:sp>
    </p:spTree>
    <p:extLst>
      <p:ext uri="{BB962C8B-B14F-4D97-AF65-F5344CB8AC3E}">
        <p14:creationId xmlns:p14="http://schemas.microsoft.com/office/powerpoint/2010/main" val="17254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712AA-2F0A-44C6-A064-B124FF3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Robustness and sensor assumptions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6ED48-5841-4D33-AED1-98EAA337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Median, trimmed mean, Krum and consistency weighting complement FedAvg and trust.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E4BCC-9ADD-4BC0-AD05-5F2F033C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A temporal reputation baseline smooths update agreement over rounds; its rule is explicit.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14D2B-00D5-4348-A5D5-8D0F284A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Engineering stress tests specify bias, gain, drift, noise, dropout and stuck blocks.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1FD00-181B-4791-9B77-B22122A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Separate Kanpur sensitivity uses published relative-error magnitudes with an assumed lognormal generator.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07729-292A-4308-A770-CEB79F6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8</a:t>
            </a:r>
          </a:p>
        </p:txBody>
      </p:sp>
    </p:spTree>
    <p:extLst>
      <p:ext uri="{BB962C8B-B14F-4D97-AF65-F5344CB8AC3E}">
        <p14:creationId xmlns:p14="http://schemas.microsoft.com/office/powerpoint/2010/main" val="54008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E84E2-10D6-4F6F-9610-5DF37C4D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Privacy and communication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8AA4D-4F48-4B71-ACE1-FEE2D6E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Honest-but-curious server observes individual final-round updates.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FB3A3-2349-4A69-AA30-F6A5562E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Probe ranks membership using loss reduction; report AUC and maximum TPR−FPR.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B18E4-3D87-4F8D-AD58-A9D42057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Graph trust AUC ≈ 0.502 ± 0.005 for this limited probe. Correlated windows limit interpretation.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D93A7-43F2-460B-AE8F-C1D0F442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Payload accounting includes parameter uploads and broadcasts. It does not measure radio energy.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7657C-A977-4000-86A8-B701BDD1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9</a:t>
            </a:r>
          </a:p>
        </p:txBody>
      </p:sp>
    </p:spTree>
    <p:extLst>
      <p:ext uri="{BB962C8B-B14F-4D97-AF65-F5344CB8AC3E}">
        <p14:creationId xmlns:p14="http://schemas.microsoft.com/office/powerpoint/2010/main" val="15898264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BF24E7-8809-4D8D-B149-14C2287B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Demonstration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6BCBE-BE7B-4261-B402-E97AE957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Historical map with model/hour selection and station-level inspection.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BC661-BDEB-4326-8CF7-2B7C474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Client calibration, convergence, model comparisons and corruption sweep.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9BF13-5B09-45D2-A8E1-0CCC3132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Simulation Lab: bounded sensor controls, early correction and future-period diagnostic error.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F1EEA-7011-469F-8FF8-49B6BD3A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Coverage audit, contextual PM10/NO₂ trends, station CV and exportable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CB68B-286D-448E-A8F1-14B43637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10</a:t>
            </a:r>
          </a:p>
        </p:txBody>
      </p:sp>
    </p:spTree>
    <p:extLst>
      <p:ext uri="{BB962C8B-B14F-4D97-AF65-F5344CB8AC3E}">
        <p14:creationId xmlns:p14="http://schemas.microsoft.com/office/powerpoint/2010/main" val="16331157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E801E-D8CD-4425-870C-4BECC290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Literature on air-quality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76224-42E2-402E-955C-32B0917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Hu et al. (2024): multi-urban FedDeep; MAE/RMSE/R² and runtime.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BA789-09FF-465A-8FAA-BF629F5D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Putra et al. (2021): compressed federated LSTM on AirBox; utility versus communication.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6759A-BE6F-4554-8C09-8661AD1A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Alwabli (2024): IoT AQI forecasting; metric definitions require careful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48B74-173E-493C-9E83-1ADB62B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Le et al. (2022): multi-model AQI survey; highlights the need for shared benchmarks.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36912-C612-48F4-ABD0-408E1917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11</a:t>
            </a:r>
          </a:p>
        </p:txBody>
      </p:sp>
    </p:spTree>
    <p:extLst>
      <p:ext uri="{BB962C8B-B14F-4D97-AF65-F5344CB8AC3E}">
        <p14:creationId xmlns:p14="http://schemas.microsoft.com/office/powerpoint/2010/main" val="1294558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CB789-C0C9-44C1-A8F9-33881C6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Literature on heterogeneous clients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9388D-F9B1-4CEB-908B-B950FF2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Ye et al. (2023): taxonomy of statistical, model, device and communication heterogeneity.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C39BF-3D97-46B1-91AE-B9D153F1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Mishra and Gupta (2023): personalization and early halting for variable local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6AF07-BEA5-4FB8-B78D-38429D6F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Khan (2025): entropy-guided FedEmerge weights diversity rather than sensor calibration.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EB2D9-A85D-49B8-B3D5-5F71C1D7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Kim et al. (2025): building-energy transfer and masking under heterogeneous sensing.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C02DD-CB93-4D9D-BD1F-66F95807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12</a:t>
            </a:r>
          </a:p>
        </p:txBody>
      </p:sp>
    </p:spTree>
    <p:extLst>
      <p:ext uri="{BB962C8B-B14F-4D97-AF65-F5344CB8AC3E}">
        <p14:creationId xmlns:p14="http://schemas.microsoft.com/office/powerpoint/2010/main" val="21364417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0C283-503F-4B44-8D6F-447C985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Literature on calibration and privacy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8702B-921E-46A6-A6BB-A361ED4E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Zheng et al. (2018): field co-location; calibration depends on environment and reference instrument.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EF57C-5CFE-4BD5-8977-B727B2A1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Moursi et al. (2021): edge PM2.5 prediction; prediction quality versus device runtime.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9793E-C3FB-4A01-B967-E98B2B4A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Liu et al. (2024): multi-party computation for FL privacy and its overhead.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AF67D-1842-47AF-BF20-20AA331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Wu et al. (2024): network topology affects communication and deployment tradeoffs.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61F37-A840-47DA-8807-4965792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13</a:t>
            </a:r>
          </a:p>
        </p:txBody>
      </p:sp>
    </p:spTree>
    <p:extLst>
      <p:ext uri="{BB962C8B-B14F-4D97-AF65-F5344CB8AC3E}">
        <p14:creationId xmlns:p14="http://schemas.microsoft.com/office/powerpoint/2010/main" val="960752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A5FBD-FB0F-44D0-AC7E-2C46FB7F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defPPr>
            <a:lvl1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1pPr>
            <a:lvl2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2pPr>
            <a:lvl3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3pPr>
            <a:lvl4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4pPr>
            <a:lvl5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5pPr>
            <a:lvl6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6pPr>
            <a:lvl7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7pPr>
            <a:lvl8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8pPr>
            <a:lvl9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4D3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4D3A"/>
                </a:solidFill>
                <a:latin typeface="Aptos"/>
                <a:ea typeface="Aptos"/>
                <a:cs typeface="Aptos"/>
              </a:rPr>
              <a:t>Conclusion and remaining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4B048-B869-4E9B-A907-BD6274A9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The project implements and evaluates a complete historical federated mapping simulation.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7D7A0-D650-44FC-869B-71907DC5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Five-fold trust RMSE is 96.69 ± 11.35 µg/m³; FedAvg is 96.16 ± 12.11.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1E895-C06A-4249-BCEF-1A3700E6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Early input correction helps the separate fixed-holdout experiment; trust superiority is unproven.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9F62C-3335-431D-AFC4-911545B6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F36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43F36"/>
                </a:solidFill>
                <a:latin typeface="Aptos"/>
                <a:ea typeface="Aptos"/>
                <a:cs typeface="Aptos"/>
              </a:rPr>
              <a:t>Next: real paired low-cost sensors, seasonal calibration transfer and stronger privacy protocols.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04A58-E993-4E14-9614-3B7FF4CF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36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736B"/>
                </a:solidFill>
                <a:latin typeface="Aptos"/>
                <a:ea typeface="Aptos"/>
                <a:cs typeface="Aptos"/>
              </a:rPr>
              <a:t>AirTrust · Team 10 · BCSE316L     14</a:t>
            </a:r>
          </a:p>
        </p:txBody>
      </p:sp>
    </p:spTree>
    <p:extLst>
      <p:ext uri="{BB962C8B-B14F-4D97-AF65-F5344CB8AC3E}">
        <p14:creationId xmlns:p14="http://schemas.microsoft.com/office/powerpoint/2010/main" val="2002559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2026-10-29T05:20:41.5880000Z</dcterms:created>
  <dcterms:modified xsi:type="dcterms:W3CDTF">2026-10-29T05:20:41.5880000Z</dcterms:modified>
</coreProperties>
</file>